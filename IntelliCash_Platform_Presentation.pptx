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75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981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jpe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jp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jpe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.png"/><Relationship Id="rId5" Type="http://schemas.openxmlformats.org/officeDocument/2006/relationships/image" Target="../media/image14.png"/><Relationship Id="rId10" Type="http://schemas.openxmlformats.org/officeDocument/2006/relationships/image" Target="../media/image4.jpg"/><Relationship Id="rId4" Type="http://schemas.openxmlformats.org/officeDocument/2006/relationships/image" Target="../media/image21.jpe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4.jpg"/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0" Type="http://schemas.openxmlformats.org/officeDocument/2006/relationships/image" Target="../media/image26.png"/><Relationship Id="rId4" Type="http://schemas.openxmlformats.org/officeDocument/2006/relationships/image" Target="../media/image12.png"/><Relationship Id="rId9" Type="http://schemas.openxmlformats.org/officeDocument/2006/relationships/image" Target="../media/image25.png"/><Relationship Id="rId1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A4D2E">
              <a:alpha val="50000"/>
            </a:srgbClr>
          </a:solidFill>
          <a:ln w="12700">
            <a:solidFill>
              <a:srgbClr val="1A4D2E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2C7744">
              <a:alpha val="40000"/>
            </a:srgbClr>
          </a:solidFill>
          <a:ln w="12700">
            <a:solidFill>
              <a:srgbClr val="2C7744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86417" y="136010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3D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42985" y="4224243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Paperless · Transparent · Connected · Empowering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62306" y="164593"/>
            <a:ext cx="2206205" cy="4645234"/>
          </a:xfrm>
          <a:prstGeom prst="roundRect">
            <a:avLst>
              <a:gd name="adj" fmla="val 7246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/mnt/user-data/uploads/WhatsApp_Image_2026-03-11_at_1_34_32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0852" y="274320"/>
            <a:ext cx="2044507" cy="425257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90225" y="237006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0" y="4855546"/>
            <a:ext cx="9144000" cy="287953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intelliwealth.org  |  info@intelliwealth.org  |  +254 723 242 701</a:t>
            </a:r>
            <a:endParaRPr lang="en-US" sz="10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72" b="20277"/>
          <a:stretch/>
        </p:blipFill>
        <p:spPr>
          <a:xfrm>
            <a:off x="1417574" y="1782132"/>
            <a:ext cx="3748532" cy="2048601"/>
          </a:xfrm>
          <a:prstGeom prst="roundRect">
            <a:avLst>
              <a:gd name="adj" fmla="val 23739"/>
            </a:avLst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574" y="397734"/>
            <a:ext cx="3448639" cy="791762"/>
          </a:xfrm>
          <a:prstGeom prst="rect">
            <a:avLst/>
          </a:prstGeom>
        </p:spPr>
      </p:pic>
      <p:pic>
        <p:nvPicPr>
          <p:cNvPr id="5" name="RA Footer Logo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4792980"/>
            <a:ext cx="656144" cy="274320"/>
          </a:xfrm>
          <a:prstGeom prst="rect">
            <a:avLst/>
          </a:prstGeom>
        </p:spPr>
      </p:pic>
      <p:pic>
        <p:nvPicPr>
          <p:cNvPr id="8" name="Intelli-Wealth Footer Logo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42" y="4856480"/>
            <a:ext cx="918258" cy="210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INTELLI-CASH?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86364" y="758952"/>
            <a:ext cx="2047108" cy="3878655"/>
          </a:xfrm>
          <a:prstGeom prst="roundRect">
            <a:avLst>
              <a:gd name="adj" fmla="val 7519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1" descr="/mnt/user-data/uploads/WhatsApp_Image_2026-03-11_at_1_34_32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4272" y="818244"/>
            <a:ext cx="1896047" cy="394377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464065" y="77724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926080" y="914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Your VSLA in Your Pocket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926080" y="14630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Intelli-Cash is a dedicated mobile-first digital platform designed to transform how Village Savings and Loan Associations (VSLAs) operate. It replaces manual registers and cash boxes with a secure, transparent, and real-time digital system that every group leader can manage directly from their smartphone.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2926080" y="2880360"/>
            <a:ext cx="59436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937028" y="2880360"/>
            <a:ext cx="73152" cy="1188720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080687" y="30153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Overview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3086100" y="3235868"/>
            <a:ext cx="5623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glance, group administrators can track Total Savings, Active Loans, Member Count, Meetings held, Fines Collected, and Social Fund balance — all in real time, with a Savings Trend chart for performance monitoring.</a:t>
            </a:r>
            <a:endParaRPr lang="en-US" sz="105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44" y="41712"/>
            <a:ext cx="648096" cy="648096"/>
          </a:xfrm>
          <a:prstGeom prst="roundRect">
            <a:avLst>
              <a:gd name="adj" fmla="val 23739"/>
            </a:avLst>
          </a:prstGeom>
        </p:spPr>
      </p:pic>
      <p:pic>
        <p:nvPicPr>
          <p:cNvPr id="4" name="RA Footer Logo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4792980"/>
            <a:ext cx="656144" cy="274320"/>
          </a:xfrm>
          <a:prstGeom prst="rect">
            <a:avLst/>
          </a:prstGeom>
        </p:spPr>
      </p:pic>
      <p:pic>
        <p:nvPicPr>
          <p:cNvPr id="10" name="Intelli-Wealth Footer Logo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42" y="4856480"/>
            <a:ext cx="918258" cy="210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SETUP &amp; CONFIGURATION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55448" y="758952"/>
            <a:ext cx="1975104" cy="4023360"/>
          </a:xfrm>
          <a:prstGeom prst="roundRect">
            <a:avLst>
              <a:gd name="adj" fmla="val 9259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1" descr="/mnt/user-data/uploads/WhatsApp_Image_2026-03-11_at_1_34_13_PM__3_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68680"/>
            <a:ext cx="1828800" cy="38039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60120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28600" y="4572000"/>
            <a:ext cx="1828800" cy="347472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" y="4572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Savings Config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194642" y="758952"/>
            <a:ext cx="1975104" cy="4023360"/>
          </a:xfrm>
          <a:prstGeom prst="roundRect">
            <a:avLst>
              <a:gd name="adj" fmla="val 9259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2" descr="/mnt/user-data/uploads/WhatsApp_Image_2026-03-11_at_1_34_13_PM__4_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67794" y="868680"/>
            <a:ext cx="1828800" cy="38039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999314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276897" y="4572000"/>
            <a:ext cx="1828800" cy="347472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14509" y="4572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Loan Config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224610" y="758952"/>
            <a:ext cx="1975104" cy="4023360"/>
          </a:xfrm>
          <a:prstGeom prst="roundRect">
            <a:avLst>
              <a:gd name="adj" fmla="val 9259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3" descr="/mnt/user-data/uploads/WhatsApp_Image_2026-03-11_at_1_34_12_PM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88618" y="850392"/>
            <a:ext cx="1828800" cy="380390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29282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297721" y="4572000"/>
            <a:ext cx="1828800" cy="347472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270412" y="4572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– Meeting Schedule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578185" y="92721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4-Step Group Wizard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405187" y="1404588"/>
            <a:ext cx="384048" cy="384048"/>
          </a:xfrm>
          <a:prstGeom prst="ellipse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5187" y="14045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08107" y="14045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908107" y="16057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 name, cycle info, member setup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405187" y="2273268"/>
            <a:ext cx="384048" cy="384048"/>
          </a:xfrm>
          <a:prstGeom prst="ellipse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01087" y="225297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908107" y="22732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908107" y="24744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Fixed/Flexible shares, KSh 100/share, max 10 shares, KSh 50 social fund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386161" y="3160871"/>
            <a:ext cx="384048" cy="384048"/>
          </a:xfrm>
          <a:prstGeom prst="ellipse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01087" y="3141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867349" y="31419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867349" y="33431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5% interest rate, reducing balance, 2x savings max loan multiplier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360205" y="3984262"/>
            <a:ext cx="384048" cy="384048"/>
          </a:xfrm>
          <a:prstGeom prst="ellipse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360205" y="396396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867349" y="3995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6867349" y="4197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Weekly/Bi-weekly/Monthly, day of meeting (e.g. Sunday)</a:t>
            </a:r>
            <a:endParaRPr lang="en-US" sz="95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44" y="41712"/>
            <a:ext cx="648096" cy="648096"/>
          </a:xfrm>
          <a:prstGeom prst="roundRect">
            <a:avLst>
              <a:gd name="adj" fmla="val 23739"/>
            </a:avLst>
          </a:prstGeom>
        </p:spPr>
      </p:pic>
      <p:pic>
        <p:nvPicPr>
          <p:cNvPr id="4" name="RA Footer Logo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4792980"/>
            <a:ext cx="656144" cy="274320"/>
          </a:xfrm>
          <a:prstGeom prst="rect">
            <a:avLst/>
          </a:prstGeom>
        </p:spPr>
      </p:pic>
      <p:pic>
        <p:nvPicPr>
          <p:cNvPr id="38" name="Intelli-Wealth Footer Logo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42" y="4856480"/>
            <a:ext cx="918258" cy="210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MANAGEMENT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9728" y="758952"/>
            <a:ext cx="1792224" cy="3642970"/>
          </a:xfrm>
          <a:prstGeom prst="roundRect">
            <a:avLst>
              <a:gd name="adj" fmla="val 10204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1" descr="/mnt/user-data/uploads/WhatsApp_Image_2026-03-11_at_1_34_32_PM__1_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68680"/>
            <a:ext cx="1645920" cy="342351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2880" y="4553712"/>
            <a:ext cx="1645920" cy="347472"/>
          </a:xfrm>
          <a:prstGeom prst="rect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82880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List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975104" y="758952"/>
            <a:ext cx="1792224" cy="3642970"/>
          </a:xfrm>
          <a:prstGeom prst="roundRect">
            <a:avLst>
              <a:gd name="adj" fmla="val 10204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2" descr="/mnt/user-data/uploads/WhatsApp_Image_2026-03-11_at_1_34_32_PM__2_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48256" y="868680"/>
            <a:ext cx="1645920" cy="342351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688336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048256" y="4553712"/>
            <a:ext cx="1645920" cy="347472"/>
          </a:xfrm>
          <a:prstGeom prst="rect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048256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Meeting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3840480" y="758952"/>
            <a:ext cx="1792224" cy="3642970"/>
          </a:xfrm>
          <a:prstGeom prst="roundRect">
            <a:avLst>
              <a:gd name="adj" fmla="val 10204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3" descr="/mnt/user-data/uploads/WhatsApp_Image_2026-03-11_at_1_34_14_PM__2_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13632" y="868680"/>
            <a:ext cx="1645920" cy="342351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553712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913632" y="4553712"/>
            <a:ext cx="1645920" cy="347472"/>
          </a:xfrm>
          <a:prstGeom prst="rect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13632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705856" y="758952"/>
            <a:ext cx="1792224" cy="3642970"/>
          </a:xfrm>
          <a:prstGeom prst="roundRect">
            <a:avLst>
              <a:gd name="adj" fmla="val 10204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4" descr="/mnt/user-data/uploads/WhatsApp_Image_2026-03-11_at_1_34_14_PM__1_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79008" y="868680"/>
            <a:ext cx="1645920" cy="342351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19088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779008" y="4553712"/>
            <a:ext cx="1645920" cy="347472"/>
          </a:xfrm>
          <a:prstGeom prst="rect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779008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Actions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7571232" y="960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Every Meeting,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Digitally Documented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571232" y="1828800"/>
            <a:ext cx="292608" cy="292608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865376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55280" y="1828800"/>
            <a:ext cx="111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Auto-numbered meeting sequence with date &amp; opening balance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571232" y="2404872"/>
            <a:ext cx="292608" cy="292608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4384" y="2441448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2404872"/>
            <a:ext cx="111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1-tap attendance marking for all active members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7571232" y="2980944"/>
            <a:ext cx="292608" cy="292608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7808" y="3017520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955280" y="2980944"/>
            <a:ext cx="111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Record share purchases, fines, social fund contributions</a:t>
            </a:r>
            <a:endParaRPr lang="en-US" sz="850" dirty="0"/>
          </a:p>
        </p:txBody>
      </p:sp>
      <p:sp>
        <p:nvSpPr>
          <p:cNvPr id="35" name="Shape 25"/>
          <p:cNvSpPr/>
          <p:nvPr/>
        </p:nvSpPr>
        <p:spPr>
          <a:xfrm>
            <a:off x="7571232" y="3557016"/>
            <a:ext cx="292608" cy="292608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808" y="3593592"/>
            <a:ext cx="219456" cy="21945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955280" y="35570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Disburse loans &amp; record repayments within the meeting</a:t>
            </a:r>
            <a:endParaRPr lang="en-US" sz="850" dirty="0"/>
          </a:p>
        </p:txBody>
      </p:sp>
      <p:sp>
        <p:nvSpPr>
          <p:cNvPr id="38" name="Shape 27"/>
          <p:cNvSpPr/>
          <p:nvPr/>
        </p:nvSpPr>
        <p:spPr>
          <a:xfrm>
            <a:off x="7571232" y="4133088"/>
            <a:ext cx="292608" cy="292608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7808" y="4169664"/>
            <a:ext cx="219456" cy="219456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955280" y="41330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Close meeting to lock records — immutable </a:t>
            </a:r>
            <a:endParaRPr lang="en-US" sz="850" dirty="0" smtClean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audit </a:t>
            </a: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850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44" y="41712"/>
            <a:ext cx="648096" cy="648096"/>
          </a:xfrm>
          <a:prstGeom prst="roundRect">
            <a:avLst>
              <a:gd name="adj" fmla="val 23739"/>
            </a:avLst>
          </a:prstGeom>
        </p:spPr>
      </p:pic>
      <p:pic>
        <p:nvPicPr>
          <p:cNvPr id="4" name="RA Footer Logo"/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4792980"/>
            <a:ext cx="656144" cy="274320"/>
          </a:xfrm>
          <a:prstGeom prst="rect">
            <a:avLst/>
          </a:prstGeom>
        </p:spPr>
      </p:pic>
      <p:pic>
        <p:nvPicPr>
          <p:cNvPr id="42" name="Intelli-Wealth Footer Logo"/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42" y="4856480"/>
            <a:ext cx="918258" cy="210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 &amp; SHARE MANAGEMENT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01168" y="758952"/>
            <a:ext cx="2157984" cy="4403750"/>
          </a:xfrm>
          <a:prstGeom prst="roundRect">
            <a:avLst>
              <a:gd name="adj" fmla="val 8475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1" descr="/mnt/user-data/uploads/WhatsApp_Image_2026-03-11_at_1_34_13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2011680" cy="418429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97280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670048" y="758952"/>
            <a:ext cx="2157984" cy="4403750"/>
          </a:xfrm>
          <a:prstGeom prst="roundRect">
            <a:avLst>
              <a:gd name="adj" fmla="val 8475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2" descr="/mnt/user-data/uploads/WhatsApp_Image_2026-03-11_at_1_34_13_PM__1_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0" y="868680"/>
            <a:ext cx="2011680" cy="418429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566160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274320" y="4617720"/>
            <a:ext cx="2011680" cy="320040"/>
          </a:xfrm>
          <a:prstGeom prst="rect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7432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Shares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743200" y="4617720"/>
            <a:ext cx="2011680" cy="320040"/>
          </a:xfrm>
          <a:prstGeom prst="rect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74320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Ledger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5120640" y="868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Disciplined Savings,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by Transaction</a:t>
            </a:r>
            <a:endParaRPr lang="en-US" sz="1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75564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68112" y="1737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Amount Savings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5468112" y="19751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buy shares at a fixed KSh 100 per share. Up to 10 shares per meeting = KSh 1,000 max per session.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36829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68112" y="23500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Option Available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21" name="Text 14"/>
          <p:cNvSpPr/>
          <p:nvPr/>
        </p:nvSpPr>
        <p:spPr>
          <a:xfrm>
            <a:off x="5468112" y="258775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Groups can also opt for flexible savings amounts to accommodate varying member capacities.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98094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68112" y="29626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Share Ledger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68112" y="32004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share purchase is immediately recorded with member name, number of shares, and total value in the meeting ledger.</a:t>
            </a:r>
            <a:endParaRPr lang="en-US" sz="9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59359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68112" y="35753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Fund Tracking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27" name="Text 18"/>
          <p:cNvSpPr/>
          <p:nvPr/>
        </p:nvSpPr>
        <p:spPr>
          <a:xfrm>
            <a:off x="5468112" y="381304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KSh 50 social fund contribution per meeting is separately tracked and reported on the dashboard.</a:t>
            </a:r>
            <a:endParaRPr lang="en-US" sz="9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206240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468112" y="4187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Savings Computation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30" name="Text 20"/>
          <p:cNvSpPr/>
          <p:nvPr/>
        </p:nvSpPr>
        <p:spPr>
          <a:xfrm>
            <a:off x="5468112" y="442569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savings are automatically computed and used to determine each member's loan eligibility (up to 2x savings).</a:t>
            </a:r>
            <a:endParaRPr lang="en-US" sz="95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44" y="41712"/>
            <a:ext cx="648096" cy="648096"/>
          </a:xfrm>
          <a:prstGeom prst="roundRect">
            <a:avLst>
              <a:gd name="adj" fmla="val 23739"/>
            </a:avLst>
          </a:prstGeom>
        </p:spPr>
      </p:pic>
      <p:pic>
        <p:nvPicPr>
          <p:cNvPr id="4" name="RA Footer Logo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4792980"/>
            <a:ext cx="656144" cy="274320"/>
          </a:xfrm>
          <a:prstGeom prst="rect">
            <a:avLst/>
          </a:prstGeom>
        </p:spPr>
      </p:pic>
      <p:pic>
        <p:nvPicPr>
          <p:cNvPr id="32" name="Intelli-Wealth Footer Logo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42" y="4856480"/>
            <a:ext cx="918258" cy="210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MANAGEMENT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55448" y="758952"/>
            <a:ext cx="2157984" cy="4403750"/>
          </a:xfrm>
          <a:prstGeom prst="roundRect">
            <a:avLst>
              <a:gd name="adj" fmla="val 8475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1" descr="/mnt/user-data/uploads/WhatsApp_Image_2026-03-11_at_1_34_12_PM__1_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68680"/>
            <a:ext cx="2011680" cy="418429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1560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624328" y="758952"/>
            <a:ext cx="2157984" cy="4403750"/>
          </a:xfrm>
          <a:prstGeom prst="roundRect">
            <a:avLst>
              <a:gd name="adj" fmla="val 8475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2" descr="/mnt/user-data/uploads/WhatsApp_Image_2026-03-11_at_1_34_13_PM__2_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97480" y="868680"/>
            <a:ext cx="2011680" cy="418429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520440" y="82296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228600" y="4617720"/>
            <a:ext cx="2011680" cy="320040"/>
          </a:xfrm>
          <a:prstGeom prst="rect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2860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 Loan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697480" y="4617720"/>
            <a:ext cx="2011680" cy="320040"/>
          </a:xfrm>
          <a:prstGeom prst="rect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69748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5074920" y="868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Smart Lending,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Full Visibility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074920" y="1664208"/>
            <a:ext cx="3840480" cy="1143000"/>
          </a:xfrm>
          <a:prstGeom prst="rect">
            <a:avLst/>
          </a:prstGeom>
          <a:solidFill>
            <a:srgbClr val="152B1E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1208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Loan Eligibility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212080" y="2057400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Savings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543800" y="2057400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 3,300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212080" y="2231136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Loan Balance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543800" y="2231136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 0.00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212080" y="2404872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Loan (2×)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7543800" y="2404872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 6,600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212080" y="257860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Amount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7543800" y="257860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 6,600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074920" y="2953512"/>
            <a:ext cx="320040" cy="32004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2990088"/>
            <a:ext cx="246888" cy="2468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86400" y="2907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Eligibility Check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29" name="Text 23"/>
          <p:cNvSpPr/>
          <p:nvPr/>
        </p:nvSpPr>
        <p:spPr>
          <a:xfrm>
            <a:off x="5486400" y="3118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computes max loan from savings automatically before disbursement.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074920" y="3474720"/>
            <a:ext cx="320040" cy="32004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3511296"/>
            <a:ext cx="246888" cy="2468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0" y="3429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Tracking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33" name="Text 26"/>
          <p:cNvSpPr/>
          <p:nvPr/>
        </p:nvSpPr>
        <p:spPr>
          <a:xfrm>
            <a:off x="548640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loan is tagged: Active, Repaid, or Defaulted — always visible.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074920" y="3995928"/>
            <a:ext cx="320040" cy="32004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1496" y="4032504"/>
            <a:ext cx="246888" cy="2468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86400" y="3950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Enforcement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37" name="Text 29"/>
          <p:cNvSpPr/>
          <p:nvPr/>
        </p:nvSpPr>
        <p:spPr>
          <a:xfrm>
            <a:off x="5486400" y="4160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Loan due dates are set at disbursement (default 3 months) to enforce discipline.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5074920" y="4517136"/>
            <a:ext cx="320040" cy="32004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496" y="4553712"/>
            <a:ext cx="246888" cy="24688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486400" y="4514963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41" name="Text 32"/>
          <p:cNvSpPr/>
          <p:nvPr/>
        </p:nvSpPr>
        <p:spPr>
          <a:xfrm>
            <a:off x="5486400" y="4681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loan history per member: principals, outstanding balances, and status.</a:t>
            </a:r>
            <a:endParaRPr lang="en-US" sz="950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44" y="41712"/>
            <a:ext cx="648096" cy="648096"/>
          </a:xfrm>
          <a:prstGeom prst="roundRect">
            <a:avLst>
              <a:gd name="adj" fmla="val 23739"/>
            </a:avLst>
          </a:prstGeom>
        </p:spPr>
      </p:pic>
      <p:pic>
        <p:nvPicPr>
          <p:cNvPr id="4" name="RA Footer Logo"/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4792980"/>
            <a:ext cx="656144" cy="274320"/>
          </a:xfrm>
          <a:prstGeom prst="rect">
            <a:avLst/>
          </a:prstGeom>
        </p:spPr>
      </p:pic>
      <p:pic>
        <p:nvPicPr>
          <p:cNvPr id="43" name="Intelli-Wealth Footer Logo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42" y="4856480"/>
            <a:ext cx="918258" cy="210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AT A GLANCE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01168" y="868680"/>
            <a:ext cx="26974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868680"/>
            <a:ext cx="269748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10896" y="1033272"/>
            <a:ext cx="411480" cy="41148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10972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978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10896" y="14904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group members with individual savings and loan profiles.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035808" y="868680"/>
            <a:ext cx="26974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035808" y="868680"/>
            <a:ext cx="269748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145536" y="1033272"/>
            <a:ext cx="411480" cy="41148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10972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75888" y="978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Lifecycle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145536" y="14904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conduct, and close meetings with auto-attendance and sequential numbering.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870448" y="868680"/>
            <a:ext cx="26974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870448" y="868680"/>
            <a:ext cx="269748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80176" y="1033272"/>
            <a:ext cx="411480" cy="41148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10972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10528" y="978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Purchases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980176" y="14904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 flexible savings with instant ledger entries and running totals.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201168" y="2029968"/>
            <a:ext cx="26974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01168" y="2029968"/>
            <a:ext cx="269748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10896" y="2194560"/>
            <a:ext cx="411480" cy="41148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" y="22585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" y="2139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&amp; Social Fund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10896" y="265176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fines and social contributions separately for full financial transparency.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035808" y="2029968"/>
            <a:ext cx="26974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035808" y="2029968"/>
            <a:ext cx="269748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145536" y="2194560"/>
            <a:ext cx="411480" cy="41148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9544" y="225856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75888" y="2139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Disbursement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3145536" y="265176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Eligibility-checked disbursements with due dates, reducing balance interest.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870448" y="2029968"/>
            <a:ext cx="26974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870448" y="2029968"/>
            <a:ext cx="269748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980176" y="2194560"/>
            <a:ext cx="411480" cy="41148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4184" y="2258568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510528" y="2139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Tracking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5980176" y="265176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loan status: Active, Repaid, or Defaulted — full portfolio view.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201168" y="3191256"/>
            <a:ext cx="26974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201168" y="3191256"/>
            <a:ext cx="269748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310896" y="3355848"/>
            <a:ext cx="411480" cy="41148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" y="3419856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841248" y="33009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Configuration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310896" y="381304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setup wizard: basics, savings rules, loan policy, and meeting schedule.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3035808" y="3191256"/>
            <a:ext cx="26974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3035808" y="3191256"/>
            <a:ext cx="269748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3145536" y="3355848"/>
            <a:ext cx="411480" cy="41148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9544" y="3419856"/>
            <a:ext cx="274320" cy="27432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3675888" y="33009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Trend Chart</a:t>
            </a:r>
            <a:endParaRPr lang="en-US" sz="1150" dirty="0"/>
          </a:p>
        </p:txBody>
      </p:sp>
      <p:sp>
        <p:nvSpPr>
          <p:cNvPr id="52" name="Text 41"/>
          <p:cNvSpPr/>
          <p:nvPr/>
        </p:nvSpPr>
        <p:spPr>
          <a:xfrm>
            <a:off x="3145536" y="381304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savings growth chart on dashboard to monitor group financial health.</a:t>
            </a:r>
            <a:endParaRPr lang="en-US" sz="950" dirty="0"/>
          </a:p>
        </p:txBody>
      </p:sp>
      <p:sp>
        <p:nvSpPr>
          <p:cNvPr id="53" name="Shape 42"/>
          <p:cNvSpPr/>
          <p:nvPr/>
        </p:nvSpPr>
        <p:spPr>
          <a:xfrm>
            <a:off x="5870448" y="3191256"/>
            <a:ext cx="26974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Shape 43"/>
          <p:cNvSpPr/>
          <p:nvPr/>
        </p:nvSpPr>
        <p:spPr>
          <a:xfrm>
            <a:off x="5870448" y="3191256"/>
            <a:ext cx="269748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980176" y="3355848"/>
            <a:ext cx="411480" cy="411480"/>
          </a:xfrm>
          <a:prstGeom prst="ellipse">
            <a:avLst/>
          </a:prstGeom>
          <a:solidFill>
            <a:srgbClr val="2C7744"/>
          </a:solidFill>
          <a:ln w="12700">
            <a:solidFill>
              <a:srgbClr val="2C7744"/>
            </a:solidFill>
            <a:prstDash val="solid"/>
          </a:ln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4184" y="3419856"/>
            <a:ext cx="274320" cy="27432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6510528" y="33009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Offline-Ready Sync</a:t>
            </a:r>
            <a:endParaRPr lang="en-US" sz="1150" dirty="0"/>
          </a:p>
        </p:txBody>
      </p:sp>
      <p:sp>
        <p:nvSpPr>
          <p:cNvPr id="58" name="Text 46"/>
          <p:cNvSpPr/>
          <p:nvPr/>
        </p:nvSpPr>
        <p:spPr>
          <a:xfrm>
            <a:off x="5980176" y="381304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transactions sync to cloud when connectivity is restored (cloud upload indicator).</a:t>
            </a:r>
            <a:endParaRPr lang="en-US" sz="950" dirty="0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44" y="41712"/>
            <a:ext cx="648096" cy="648096"/>
          </a:xfrm>
          <a:prstGeom prst="roundRect">
            <a:avLst>
              <a:gd name="adj" fmla="val 23739"/>
            </a:avLst>
          </a:prstGeom>
        </p:spPr>
      </p:pic>
      <p:pic>
        <p:nvPicPr>
          <p:cNvPr id="4" name="RA Footer Logo"/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4792980"/>
            <a:ext cx="656144" cy="274320"/>
          </a:xfrm>
          <a:prstGeom prst="rect">
            <a:avLst/>
          </a:prstGeom>
        </p:spPr>
      </p:pic>
      <p:pic>
        <p:nvPicPr>
          <p:cNvPr id="60" name="Intelli-Wealth Footer Logo"/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42" y="4856480"/>
            <a:ext cx="918258" cy="210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INTELLI-CASH?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2860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Manual VSLA Management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B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Intelli-Cash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24528" y="1005840"/>
            <a:ext cx="694944" cy="694944"/>
          </a:xfrm>
          <a:prstGeom prst="ellipse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24528" y="1005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" y="1874520"/>
            <a:ext cx="3840480" cy="411480"/>
          </a:xfrm>
          <a:prstGeom prst="rect">
            <a:avLst/>
          </a:prstGeom>
          <a:solidFill>
            <a:srgbClr val="1C1010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Paper registers — lost, damaged, falsified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874520"/>
            <a:ext cx="4114800" cy="411480"/>
          </a:xfrm>
          <a:prstGeom prst="rect">
            <a:avLst/>
          </a:prstGeom>
          <a:solidFill>
            <a:srgbClr val="0E1E14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74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digital ledger with cloud backup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87368" y="2080260"/>
            <a:ext cx="658368" cy="0"/>
          </a:xfrm>
          <a:prstGeom prst="line">
            <a:avLst/>
          </a:prstGeom>
          <a:noFill/>
          <a:ln w="19050">
            <a:solidFill>
              <a:srgbClr val="3DB5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" y="2377440"/>
            <a:ext cx="3840480" cy="411480"/>
          </a:xfrm>
          <a:prstGeom prst="rect">
            <a:avLst/>
          </a:prstGeom>
          <a:solidFill>
            <a:srgbClr val="1C1010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loan eligibility calculation errors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2377440"/>
            <a:ext cx="4114800" cy="411480"/>
          </a:xfrm>
          <a:prstGeom prst="rect">
            <a:avLst/>
          </a:prstGeom>
          <a:solidFill>
            <a:srgbClr val="0E1E14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Auto-calculated eligibility from savings data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87368" y="2583180"/>
            <a:ext cx="658368" cy="0"/>
          </a:xfrm>
          <a:prstGeom prst="line">
            <a:avLst/>
          </a:prstGeom>
          <a:noFill/>
          <a:ln w="19050">
            <a:solidFill>
              <a:srgbClr val="3DB55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" y="2880360"/>
            <a:ext cx="3840480" cy="411480"/>
          </a:xfrm>
          <a:prstGeom prst="rect">
            <a:avLst/>
          </a:prstGeom>
          <a:solidFill>
            <a:srgbClr val="1C1010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record of who attended meetings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2880360"/>
            <a:ext cx="4114800" cy="411480"/>
          </a:xfrm>
          <a:prstGeom prst="rect">
            <a:avLst/>
          </a:prstGeom>
          <a:solidFill>
            <a:srgbClr val="0E1E14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2880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1-tap attendance, archived by meeting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087368" y="3086100"/>
            <a:ext cx="658368" cy="0"/>
          </a:xfrm>
          <a:prstGeom prst="line">
            <a:avLst/>
          </a:prstGeom>
          <a:noFill/>
          <a:ln w="19050">
            <a:solidFill>
              <a:srgbClr val="3DB55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" y="3383280"/>
            <a:ext cx="3840480" cy="411480"/>
          </a:xfrm>
          <a:prstGeom prst="rect">
            <a:avLst/>
          </a:prstGeom>
          <a:solidFill>
            <a:srgbClr val="1C1010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Fines forgotten or disputed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3383280"/>
            <a:ext cx="4114800" cy="411480"/>
          </a:xfrm>
          <a:prstGeom prst="rect">
            <a:avLst/>
          </a:prstGeom>
          <a:solidFill>
            <a:srgbClr val="0E1E14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383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Fines and social fund tracked separately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087368" y="3589020"/>
            <a:ext cx="658368" cy="0"/>
          </a:xfrm>
          <a:prstGeom prst="line">
            <a:avLst/>
          </a:prstGeom>
          <a:noFill/>
          <a:ln w="19050">
            <a:solidFill>
              <a:srgbClr val="3DB55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8600" y="3886200"/>
            <a:ext cx="3840480" cy="411480"/>
          </a:xfrm>
          <a:prstGeom prst="rect">
            <a:avLst/>
          </a:prstGeom>
          <a:solidFill>
            <a:srgbClr val="1C1010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visibility on loan repayment status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3886200"/>
            <a:ext cx="4114800" cy="411480"/>
          </a:xfrm>
          <a:prstGeom prst="rect">
            <a:avLst/>
          </a:prstGeom>
          <a:solidFill>
            <a:srgbClr val="0E1E14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3886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status: Active / Repaid / Defaulted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087368" y="4091940"/>
            <a:ext cx="658368" cy="0"/>
          </a:xfrm>
          <a:prstGeom prst="line">
            <a:avLst/>
          </a:prstGeom>
          <a:noFill/>
          <a:ln w="19050">
            <a:solidFill>
              <a:srgbClr val="3DB55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28600" y="4389120"/>
            <a:ext cx="3840480" cy="411480"/>
          </a:xfrm>
          <a:prstGeom prst="rect">
            <a:avLst/>
          </a:prstGeom>
          <a:solidFill>
            <a:srgbClr val="1C1010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0040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Savings trends unknown without review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0" y="4389120"/>
            <a:ext cx="4114800" cy="411480"/>
          </a:xfrm>
          <a:prstGeom prst="rect">
            <a:avLst/>
          </a:prstGeom>
          <a:solidFill>
            <a:srgbClr val="0E1E14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0" y="4389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savings chart on dashboard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087368" y="4594860"/>
            <a:ext cx="658368" cy="0"/>
          </a:xfrm>
          <a:prstGeom prst="line">
            <a:avLst/>
          </a:prstGeom>
          <a:noFill/>
          <a:ln w="19050">
            <a:solidFill>
              <a:srgbClr val="3DB558"/>
            </a:solidFill>
            <a:prstDash val="solid"/>
          </a:ln>
        </p:spPr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44" y="41712"/>
            <a:ext cx="648096" cy="648096"/>
          </a:xfrm>
          <a:prstGeom prst="roundRect">
            <a:avLst>
              <a:gd name="adj" fmla="val 23739"/>
            </a:avLst>
          </a:prstGeom>
        </p:spPr>
      </p:pic>
      <p:pic>
        <p:nvPicPr>
          <p:cNvPr id="4" name="RA Footer Logo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4792980"/>
            <a:ext cx="656144" cy="274320"/>
          </a:xfrm>
          <a:prstGeom prst="rect">
            <a:avLst/>
          </a:prstGeom>
        </p:spPr>
      </p:pic>
      <p:pic>
        <p:nvPicPr>
          <p:cNvPr id="40" name="Intelli-Wealth Footer Logo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42" y="4856480"/>
            <a:ext cx="918258" cy="210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A4D2E">
              <a:alpha val="35000"/>
            </a:srgbClr>
          </a:solidFill>
          <a:ln w="12700">
            <a:solidFill>
              <a:srgbClr val="1A4D2E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1A4D2E">
              <a:alpha val="28000"/>
            </a:srgbClr>
          </a:solidFill>
          <a:ln w="12700">
            <a:solidFill>
              <a:srgbClr val="1A4D2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VSLAs. One Meeting at a Time.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74720" y="3246120"/>
            <a:ext cx="2194560" cy="54864"/>
          </a:xfrm>
          <a:prstGeom prst="rect">
            <a:avLst/>
          </a:prstGeom>
          <a:solidFill>
            <a:srgbClr val="3DB558"/>
          </a:solidFill>
          <a:ln w="12700">
            <a:solidFill>
              <a:srgbClr val="3DB5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Intelli-Wealth Limited  |  www.intelliwealth.org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info@intelliwealth.org    📞 +254 723 242 701    📍 Ramco Courts, South C, Nairobi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your business in Africa</a:t>
            </a:r>
            <a:endParaRPr lang="en-US" sz="1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0" y="329451"/>
            <a:ext cx="2185416" cy="2185416"/>
          </a:xfrm>
          <a:prstGeom prst="roundRect">
            <a:avLst>
              <a:gd name="adj" fmla="val 23739"/>
            </a:avLst>
          </a:prstGeom>
        </p:spPr>
      </p:pic>
      <p:pic>
        <p:nvPicPr>
          <p:cNvPr id="5" name="RA Footer Logo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4792980"/>
            <a:ext cx="656144" cy="274320"/>
          </a:xfrm>
          <a:prstGeom prst="rect">
            <a:avLst/>
          </a:prstGeom>
        </p:spPr>
      </p:pic>
      <p:pic>
        <p:nvPicPr>
          <p:cNvPr id="6" name="Intelli-Wealth Footer Logo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42" y="4856480"/>
            <a:ext cx="918258" cy="210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750</Words>
  <Application>Microsoft Office PowerPoint</Application>
  <PresentationFormat>On-screen Show (16:9)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Intelli-Cash – VSLA Digital Finance Platform</dc:title>
  <dc:subject>PptxGenJS Presentation</dc:subject>
  <dc:creator>PptxGenJS</dc:creator>
  <cp:lastModifiedBy>user</cp:lastModifiedBy>
  <cp:revision>11</cp:revision>
  <dcterms:created xsi:type="dcterms:W3CDTF">2026-03-11T10:58:13Z</dcterms:created>
  <dcterms:modified xsi:type="dcterms:W3CDTF">2026-06-09T08:32:12Z</dcterms:modified>
</cp:coreProperties>
</file>